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377440" cy="2377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4297680"/>
            <a:ext cx="1188720" cy="118872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45720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21945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32918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51206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0058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3657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6878" y="1850746"/>
            <a:ext cx="623621" cy="567842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480499" y="1677924"/>
            <a:ext cx="623621" cy="74066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04120" y="1677924"/>
            <a:ext cx="680314" cy="567842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784434" y="1505102"/>
            <a:ext cx="595274" cy="74066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9707270" y="1110082"/>
            <a:ext cx="396850" cy="567842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 flipV="1">
            <a:off x="9083650" y="665683"/>
            <a:ext cx="623621" cy="44439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707270" y="468173"/>
            <a:ext cx="453542" cy="641909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10557662" y="1011326"/>
            <a:ext cx="822046" cy="49377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9707270" y="1011326"/>
            <a:ext cx="850392" cy="98755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557662" y="566928"/>
            <a:ext cx="680314" cy="44439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60813" y="468173"/>
            <a:ext cx="1077163" cy="98755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856878" y="1110082"/>
            <a:ext cx="850392" cy="74066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11158" y="1805026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Shape 24"/>
          <p:cNvSpPr/>
          <p:nvPr/>
        </p:nvSpPr>
        <p:spPr>
          <a:xfrm>
            <a:off x="9453067" y="2391156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76688" y="1650492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38714" y="2200046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52276" y="1477670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30230" y="983894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661550" y="1064362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2" name="Shape 30"/>
          <p:cNvSpPr/>
          <p:nvPr/>
        </p:nvSpPr>
        <p:spPr>
          <a:xfrm>
            <a:off x="9056218" y="638251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133381" y="440741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192256" y="521208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· STATISTICS FOR DATA SCIENCE · MINI PROJECT, SUMMER 2026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31520" y="1874520"/>
            <a:ext cx="10698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Sleep Disorder Prediction from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Lifestyle and Physiological Indicators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731520" y="4343400"/>
            <a:ext cx="292608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457200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Radowan Ahmed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Shahriar Rahman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Juboraj Podder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206240" y="457200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2024-3-60-464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2022-3-60-036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2023-2-60-048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1520" y="6263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West University — Department of Computer Science and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Abstract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48640" y="1600200"/>
            <a:ext cx="6675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investigates whether a person's sleep-disorder status can be predicted from everyday lifestyle and physiological indicators. Three classifiers — Logistic Regression, Decision Tree, and Random Forest — were trained on a 400-record survey dataset and compared against a majority-class baseline, after preprocessing with one-hot encoding and SMOTE oversampling for class imbalance.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5A6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reached the highest test accuracy, while Decision Tree gave more balanced performance across the minority classes — highlighting both the potential and the limits of lifestyle-only predictors.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589520" y="1600200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18120" y="1673352"/>
            <a:ext cx="1463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281160" y="1673352"/>
            <a:ext cx="2240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records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589520" y="2807208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818120" y="2880360"/>
            <a:ext cx="1463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281160" y="2880360"/>
            <a:ext cx="2240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record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589520" y="4014216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818120" y="4087368"/>
            <a:ext cx="1463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281160" y="4087368"/>
            <a:ext cx="2240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589520" y="5221224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818120" y="5294376"/>
            <a:ext cx="14630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77.5%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9281160" y="5294376"/>
            <a:ext cx="224028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accuracy (RF)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Research Question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54480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8680" y="25603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disorders such as insomnia and sleep apnea are widespread and closely tied to everyday lifestyle and physiological factors, including stress, physical activity, and body-weight category. Identifying which factors relate most strongly to sleep problems can support early screening before a clinical diagnosis is made.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45352" y="1645920"/>
            <a:ext cx="5394960" cy="4297680"/>
          </a:xfrm>
          <a:prstGeom prst="roundRect">
            <a:avLst>
              <a:gd name="adj" fmla="val 1702"/>
            </a:avLst>
          </a:prstGeom>
          <a:solidFill>
            <a:srgbClr val="1B1F3B"/>
          </a:solidFill>
          <a:ln/>
        </p:spPr>
      </p:sp>
      <p:sp>
        <p:nvSpPr>
          <p:cNvPr id="32" name="Shape 30"/>
          <p:cNvSpPr/>
          <p:nvPr/>
        </p:nvSpPr>
        <p:spPr>
          <a:xfrm>
            <a:off x="6565392" y="1920240"/>
            <a:ext cx="502920" cy="50292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51192" y="19476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565392" y="25603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person's sleep disorder status (none, insomnia, or sleep apnea) be predicted from lifestyle and physiological indicators — age, occupation, stress level, physical activity, BMI category, blood pressure, heart rate, and daily steps?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Target-Label Construction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48640" y="16459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individual records, 13 attributes: Person ID, Gender, Age, Occupation, Sleep Duration, Quality of Sleep, Physical Activity Level, Stress Level, BMI Category, Blood Pressure, Heart Rate, Daily Steps, and Sleep Disorder.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548640" y="2880360"/>
            <a:ext cx="6309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Sleep Disorder were filled with the explicit label “No Sleep Disorder” rather than dropped, since a missing entry is itself clinically meaningful.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48640" y="40233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target is imbalanced across three classes: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8640" y="4480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Sleep Disorder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697480" y="4535424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E3E6F5"/>
          </a:solidFill>
          <a:ln/>
        </p:spPr>
      </p:sp>
      <p:sp>
        <p:nvSpPr>
          <p:cNvPr id="31" name="Shape 29"/>
          <p:cNvSpPr/>
          <p:nvPr/>
        </p:nvSpPr>
        <p:spPr>
          <a:xfrm>
            <a:off x="2697480" y="4535424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5A6BB0"/>
          </a:solidFill>
          <a:ln/>
        </p:spPr>
      </p:sp>
      <p:sp>
        <p:nvSpPr>
          <p:cNvPr id="32" name="Text 30"/>
          <p:cNvSpPr/>
          <p:nvPr/>
        </p:nvSpPr>
        <p:spPr>
          <a:xfrm>
            <a:off x="6080760" y="4480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72.5%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4983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2697480" y="5038344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E3E6F5"/>
          </a:solidFill>
          <a:ln/>
        </p:spPr>
      </p:sp>
      <p:sp>
        <p:nvSpPr>
          <p:cNvPr id="35" name="Shape 33"/>
          <p:cNvSpPr/>
          <p:nvPr/>
        </p:nvSpPr>
        <p:spPr>
          <a:xfrm>
            <a:off x="2697480" y="5038344"/>
            <a:ext cx="896743" cy="256032"/>
          </a:xfrm>
          <a:prstGeom prst="roundRect">
            <a:avLst>
              <a:gd name="adj" fmla="val 14286"/>
            </a:avLst>
          </a:prstGeom>
          <a:solidFill>
            <a:srgbClr val="F4B942"/>
          </a:solidFill>
          <a:ln/>
        </p:spPr>
      </p:sp>
      <p:sp>
        <p:nvSpPr>
          <p:cNvPr id="36" name="Text 34"/>
          <p:cNvSpPr/>
          <p:nvPr/>
        </p:nvSpPr>
        <p:spPr>
          <a:xfrm>
            <a:off x="6080760" y="4983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19.75%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48640" y="5486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Apnea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697480" y="5541264"/>
            <a:ext cx="3291840" cy="256032"/>
          </a:xfrm>
          <a:prstGeom prst="roundRect">
            <a:avLst>
              <a:gd name="adj" fmla="val 14286"/>
            </a:avLst>
          </a:prstGeom>
          <a:solidFill>
            <a:srgbClr val="E3E6F5"/>
          </a:solidFill>
          <a:ln/>
        </p:spPr>
      </p:sp>
      <p:sp>
        <p:nvSpPr>
          <p:cNvPr id="39" name="Shape 37"/>
          <p:cNvSpPr/>
          <p:nvPr/>
        </p:nvSpPr>
        <p:spPr>
          <a:xfrm>
            <a:off x="2697480" y="5541264"/>
            <a:ext cx="351886" cy="256032"/>
          </a:xfrm>
          <a:prstGeom prst="roundRect">
            <a:avLst>
              <a:gd name="adj" fmla="val 14286"/>
            </a:avLst>
          </a:prstGeom>
          <a:solidFill>
            <a:srgbClr val="C0567A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5486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7.75%</a:t>
            </a:r>
            <a:endParaRPr lang="en-US" sz="1250" dirty="0"/>
          </a:p>
        </p:txBody>
      </p:sp>
      <p:pic>
        <p:nvPicPr>
          <p:cNvPr id="41" name="Image 0" descr="sleep_disorder_count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600200"/>
            <a:ext cx="4572000" cy="306324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0866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Class distribution of the Sleep Disorder target.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&amp; Occupation Patterns</a:t>
            </a:r>
            <a:endParaRPr lang="en-US" sz="3000" dirty="0"/>
          </a:p>
        </p:txBody>
      </p:sp>
      <p:pic>
        <p:nvPicPr>
          <p:cNvPr id="26" name="Image 0" descr="correlation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4206240" cy="411480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574243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2. Correlation matrix of numeric variables.</a:t>
            </a:r>
            <a:endParaRPr lang="en-US" sz="1050" dirty="0"/>
          </a:p>
        </p:txBody>
      </p:sp>
      <p:pic>
        <p:nvPicPr>
          <p:cNvPr id="28" name="Image 1" descr="quality_by_occupation_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6583680" cy="32461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29200" y="5029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3. Quality of Sleep across occupation groups.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5029200" y="5440680"/>
            <a:ext cx="6583680" cy="1051560"/>
          </a:xfrm>
          <a:prstGeom prst="roundRect">
            <a:avLst>
              <a:gd name="adj" fmla="val 6957"/>
            </a:avLst>
          </a:prstGeom>
          <a:solidFill>
            <a:srgbClr val="1B1F3B"/>
          </a:solidFill>
          <a:ln/>
        </p:spPr>
      </p:sp>
      <p:sp>
        <p:nvSpPr>
          <p:cNvPr id="31" name="Text 27"/>
          <p:cNvSpPr/>
          <p:nvPr/>
        </p:nvSpPr>
        <p:spPr>
          <a:xfrm>
            <a:off x="5257800" y="5504688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Duration and Quality of Sleep show almost no linear correlation (r ≈ -0.002) — sleep quality depends on more than duration alone. Median sleep quality also visibly differs across occupations, motivating Occupation as a candidate predictor.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1005840"/>
            <a:ext cx="2743200" cy="27432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4" name="Shape 2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3" name="Shape 21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Preprocessing, Baseline &amp; Proposed Model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 passed through unchanged; categorical features one-hot encoded. SMOTE was applied to the training data only, so minority classes (Insomnia, Sleep Apnea) were not overwhelmed during training.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251460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2A2F5C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31546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baseline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predicts “No Sleep Disorder” — 72.5% accuracy, zero recall on minority classes.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linear classifier used as a baseline learning algorithm.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245352" y="251460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4B942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272491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MODEL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65392" y="31546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(50 trees)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feature interactions and mixed data well; combines naturally with SMOTE inside one pipeline.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50" dirty="0"/>
          </a:p>
          <a:p>
            <a:pPr indent="0" marL="0">
              <a:lnSpc>
                <a:spcPct val="128000"/>
              </a:lnSpc>
              <a:spcAft>
                <a:spcPts val="500"/>
              </a:spcAft>
              <a:buNone/>
            </a:pPr>
            <a:r>
              <a:rPr lang="en-US" sz="135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trained as a simpler tree-based comparison point.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Test-Set Performance Comparison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1. Test-set performance comparison across models. Split: 80% train / 20% test, 10-fold cross-validation.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7315200" cy="2377440"/>
        </p:xfrm>
        <a:graphic>
          <a:graphicData uri="http://schemas.openxmlformats.org/drawingml/2006/table">
            <a:tbl>
              <a:tblPr/>
              <a:tblGrid>
                <a:gridCol w="2743200"/>
                <a:gridCol w="1554480"/>
                <a:gridCol w="1508760"/>
                <a:gridCol w="15087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Majority-class baseline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0.61*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(proposed)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022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D6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548640" y="4800600"/>
            <a:ext cx="7315200" cy="1417320"/>
          </a:xfrm>
          <a:prstGeom prst="roundRect">
            <a:avLst>
              <a:gd name="adj" fmla="val 5161"/>
            </a:avLst>
          </a:prstGeom>
          <a:solidFill>
            <a:srgbClr val="EEF1FC"/>
          </a:solidFill>
          <a:ln w="12700">
            <a:solidFill>
              <a:srgbClr val="D9DEF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" y="4892040"/>
            <a:ext cx="6858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the highest accuracy (77.5%), while Decision Tree achieved a higher macro-F1 (0.48) — performing more evenly across minority classes. Logistic Regression performed worst (47.5%), as a linear boundary doesn't capture the relationship well.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183880" y="2148840"/>
            <a:ext cx="3456432" cy="4069080"/>
          </a:xfrm>
          <a:prstGeom prst="roundRect">
            <a:avLst>
              <a:gd name="adj" fmla="val 2646"/>
            </a:avLst>
          </a:prstGeom>
          <a:solidFill>
            <a:srgbClr val="1B1F3B"/>
          </a:solidFill>
          <a:ln/>
        </p:spPr>
      </p:sp>
      <p:sp>
        <p:nvSpPr>
          <p:cNvPr id="31" name="Text 28"/>
          <p:cNvSpPr/>
          <p:nvPr/>
        </p:nvSpPr>
        <p:spPr>
          <a:xfrm>
            <a:off x="8458200" y="2423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458200" y="278892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Forest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8458200" y="38404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B9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77.5%</a:t>
            </a:r>
            <a:endParaRPr lang="en-US" sz="4600" dirty="0"/>
          </a:p>
        </p:txBody>
      </p:sp>
      <p:sp>
        <p:nvSpPr>
          <p:cNvPr id="34" name="Text 31"/>
          <p:cNvSpPr/>
          <p:nvPr/>
        </p:nvSpPr>
        <p:spPr>
          <a:xfrm>
            <a:off x="8458200" y="48006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highest of all models, with 50 trees on SMOTE-balanced training data.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Validation</a:t>
            </a:r>
            <a:endParaRPr lang="en-US" sz="3000" dirty="0"/>
          </a:p>
        </p:txBody>
      </p:sp>
      <p:pic>
        <p:nvPicPr>
          <p:cNvPr id="26" name="Image 0" descr="cm_random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160520" cy="35661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48640" y="5285232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 Confusion matrix — Random Forest (proposed).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07492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2. 10-fold cross-validation accuracy (mean ± std. dev.)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07492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7818120" y="2359152"/>
            <a:ext cx="2926080" cy="310896"/>
          </a:xfrm>
          <a:prstGeom prst="roundRect">
            <a:avLst>
              <a:gd name="adj" fmla="val 14706"/>
            </a:avLst>
          </a:prstGeom>
          <a:solidFill>
            <a:srgbClr val="E3E6F5"/>
          </a:solidFill>
          <a:ln/>
        </p:spPr>
      </p:sp>
      <p:sp>
        <p:nvSpPr>
          <p:cNvPr id="31" name="Shape 28"/>
          <p:cNvSpPr/>
          <p:nvPr/>
        </p:nvSpPr>
        <p:spPr>
          <a:xfrm>
            <a:off x="7818120" y="2359152"/>
            <a:ext cx="1789089" cy="310896"/>
          </a:xfrm>
          <a:prstGeom prst="roundRect">
            <a:avLst>
              <a:gd name="adj" fmla="val 14706"/>
            </a:avLst>
          </a:prstGeom>
          <a:solidFill>
            <a:srgbClr val="5A6BB0"/>
          </a:solidFill>
          <a:ln/>
        </p:spPr>
      </p:sp>
      <p:sp>
        <p:nvSpPr>
          <p:cNvPr id="32" name="Text 29"/>
          <p:cNvSpPr/>
          <p:nvPr/>
        </p:nvSpPr>
        <p:spPr>
          <a:xfrm>
            <a:off x="10835640" y="2286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42.8% ± 6.4%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7492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7818120" y="3136392"/>
            <a:ext cx="2926080" cy="310896"/>
          </a:xfrm>
          <a:prstGeom prst="roundRect">
            <a:avLst>
              <a:gd name="adj" fmla="val 14706"/>
            </a:avLst>
          </a:prstGeom>
          <a:solidFill>
            <a:srgbClr val="E3E6F5"/>
          </a:solidFill>
          <a:ln/>
        </p:spPr>
      </p:sp>
      <p:sp>
        <p:nvSpPr>
          <p:cNvPr id="35" name="Shape 32"/>
          <p:cNvSpPr/>
          <p:nvPr/>
        </p:nvSpPr>
        <p:spPr>
          <a:xfrm>
            <a:off x="7818120" y="3136392"/>
            <a:ext cx="2612571" cy="310896"/>
          </a:xfrm>
          <a:prstGeom prst="roundRect">
            <a:avLst>
              <a:gd name="adj" fmla="val 14706"/>
            </a:avLst>
          </a:prstGeom>
          <a:solidFill>
            <a:srgbClr val="C0567A"/>
          </a:solidFill>
          <a:ln/>
        </p:spPr>
      </p:sp>
      <p:sp>
        <p:nvSpPr>
          <p:cNvPr id="36" name="Text 33"/>
          <p:cNvSpPr/>
          <p:nvPr/>
        </p:nvSpPr>
        <p:spPr>
          <a:xfrm>
            <a:off x="10835640" y="306324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62.5% ± 6.6%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07492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(proposed)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7818120" y="3913632"/>
            <a:ext cx="2926080" cy="310896"/>
          </a:xfrm>
          <a:prstGeom prst="roundRect">
            <a:avLst>
              <a:gd name="adj" fmla="val 14706"/>
            </a:avLst>
          </a:prstGeom>
          <a:solidFill>
            <a:srgbClr val="E3E6F5"/>
          </a:solidFill>
          <a:ln/>
        </p:spPr>
      </p:sp>
      <p:sp>
        <p:nvSpPr>
          <p:cNvPr id="39" name="Shape 36"/>
          <p:cNvSpPr/>
          <p:nvPr/>
        </p:nvSpPr>
        <p:spPr>
          <a:xfrm>
            <a:off x="7818120" y="3913632"/>
            <a:ext cx="2821577" cy="310896"/>
          </a:xfrm>
          <a:prstGeom prst="roundRect">
            <a:avLst>
              <a:gd name="adj" fmla="val 14706"/>
            </a:avLst>
          </a:prstGeom>
          <a:solidFill>
            <a:srgbClr val="F4B942"/>
          </a:solidFill>
          <a:ln/>
        </p:spPr>
      </p:sp>
      <p:sp>
        <p:nvSpPr>
          <p:cNvPr id="40" name="Text 37"/>
          <p:cNvSpPr/>
          <p:nvPr/>
        </p:nvSpPr>
        <p:spPr>
          <a:xfrm>
            <a:off x="10835640" y="3840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67.5% ± 5.1%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5074920" y="4709160"/>
            <a:ext cx="6583680" cy="1691640"/>
          </a:xfrm>
          <a:prstGeom prst="roundRect">
            <a:avLst>
              <a:gd name="adj" fmla="val 4324"/>
            </a:avLst>
          </a:prstGeom>
          <a:solidFill>
            <a:srgbClr val="1B1F3B"/>
          </a:solidFill>
          <a:ln/>
        </p:spPr>
      </p:sp>
      <p:sp>
        <p:nvSpPr>
          <p:cNvPr id="42" name="Text 39"/>
          <p:cNvSpPr/>
          <p:nvPr/>
        </p:nvSpPr>
        <p:spPr>
          <a:xfrm>
            <a:off x="5303520" y="4828032"/>
            <a:ext cx="6126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predicts “No Sleep Disorder” reliably but struggles on minority classes — the expected effect of class imbalance even after SMOTE.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confirms the same model ranking as the test set, giving confidence the results are not an artifact of a single train/test split.</a:t>
            </a:r>
            <a:endParaRPr lang="en-US" sz="125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5A6BB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1" name="Shape 19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2" name="Shape 20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5A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REVIEW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548640" y="169164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325880" y="1801368"/>
            <a:ext cx="4480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is modest (400 records, 80 test), so minority-class metrics have high variance.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63640" y="1691640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6520" y="1874520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40880" y="1801368"/>
            <a:ext cx="4480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remains a challenge even with SMOTE; Sleep Apnea recall stayed low across all models.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3355848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" y="353872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325880" y="3465576"/>
            <a:ext cx="4480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classification was done; formal hypothesis tests (ANOVA) and regression were not carried out.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63640" y="3355848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46520" y="3538728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3538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40880" y="3465576"/>
            <a:ext cx="4480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survey data — associations found do not imply causation.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548640" y="5020056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" y="5202936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5129784"/>
            <a:ext cx="4480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 were left at library defaults; no systematic grid search was performed.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63640" y="5020056"/>
            <a:ext cx="5440680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3E6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5202936"/>
            <a:ext cx="457200" cy="457200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48" name="Text 46"/>
          <p:cNvSpPr/>
          <p:nvPr/>
        </p:nvSpPr>
        <p:spPr>
          <a:xfrm>
            <a:off x="6446520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040880" y="5129784"/>
            <a:ext cx="448056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02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 is consistently lower than the single test-split accuracy, so the 80/20 split was somewhat favorable.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0" y="-1005840"/>
            <a:ext cx="2743200" cy="27432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5760720"/>
            <a:ext cx="2011680" cy="201168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4" name="Shape 2"/>
          <p:cNvSpPr/>
          <p:nvPr/>
        </p:nvSpPr>
        <p:spPr>
          <a:xfrm>
            <a:off x="9560966" y="874166"/>
            <a:ext cx="523037" cy="27340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084003" y="790956"/>
            <a:ext cx="523037" cy="35661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7040" y="790956"/>
            <a:ext cx="570586" cy="27340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1177626" y="707746"/>
            <a:ext cx="499262" cy="35661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 flipV="1">
            <a:off x="10274198" y="517550"/>
            <a:ext cx="332842" cy="27340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 flipV="1">
            <a:off x="9751162" y="303581"/>
            <a:ext cx="523037" cy="213970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0274198" y="208483"/>
            <a:ext cx="380390" cy="309067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 flipV="1">
            <a:off x="10987430" y="470002"/>
            <a:ext cx="689458" cy="23774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0274198" y="470002"/>
            <a:ext cx="713232" cy="47549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0987430" y="256032"/>
            <a:ext cx="570586" cy="213970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54589" y="208483"/>
            <a:ext cx="903427" cy="47549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560966" y="517550"/>
            <a:ext cx="713232" cy="35661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5246" y="828446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6571" y="1120140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79608" y="763524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31906" y="1018642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649456" y="680314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59998" y="442570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28478" y="471830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3" name="Shape 21"/>
          <p:cNvSpPr/>
          <p:nvPr/>
        </p:nvSpPr>
        <p:spPr>
          <a:xfrm>
            <a:off x="9723730" y="276149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27157" y="181051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512296" y="210312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48640" y="1737360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and physiological indicators carry some predictive signal for sleep-disorder status: a Random Forest classifier reached 77.5% test accuracy, and a Decision Tree gave more balanced performance across classes.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" y="329184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still limits reliable detection of Insomnia and Sleep Apnea. Future work: class-imbalance-aware metrics, additional data, hyperparameter tuning, and formal hypothesis testing to confirm which lifestyle factors matter most.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35240" y="1737360"/>
            <a:ext cx="3977640" cy="4206240"/>
          </a:xfrm>
          <a:prstGeom prst="roundRect">
            <a:avLst>
              <a:gd name="adj" fmla="val 2299"/>
            </a:avLst>
          </a:prstGeom>
          <a:solidFill>
            <a:srgbClr val="F4B942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2011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23774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77.5%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7909560" y="356616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test accuracy — the best of four models compared, validated by 10-fold cross-validation.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377440" cy="2377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2A2F5C"/>
          </a:solidFill>
          <a:ln/>
        </p:spPr>
      </p:sp>
      <p:sp>
        <p:nvSpPr>
          <p:cNvPr id="5" name="Shape 3"/>
          <p:cNvSpPr/>
          <p:nvPr/>
        </p:nvSpPr>
        <p:spPr>
          <a:xfrm>
            <a:off x="-822960" y="4297680"/>
            <a:ext cx="1188720" cy="118872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45720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0" y="21945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0" y="32918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51206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00584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3108960" y="36576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840480"/>
            <a:ext cx="41148" cy="411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770925" y="1861718"/>
            <a:ext cx="643738" cy="58887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414662" y="1682496"/>
            <a:ext cx="643738" cy="76809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0" y="1682496"/>
            <a:ext cx="702259" cy="58887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0760659" y="1503274"/>
            <a:ext cx="614477" cy="76809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H="1" flipV="1">
            <a:off x="9648749" y="1093622"/>
            <a:ext cx="409651" cy="58887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H="1" flipV="1">
            <a:off x="9005011" y="632765"/>
            <a:ext cx="643738" cy="46085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9648749" y="427939"/>
            <a:ext cx="468173" cy="665683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10526573" y="991210"/>
            <a:ext cx="848563" cy="51206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9648749" y="991210"/>
            <a:ext cx="877824" cy="102413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10526573" y="530352"/>
            <a:ext cx="702259" cy="46085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6922" y="427939"/>
            <a:ext cx="1111910" cy="102413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8770925" y="1093622"/>
            <a:ext cx="877824" cy="76809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5205" y="1815998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6" name="Shape 24"/>
          <p:cNvSpPr/>
          <p:nvPr/>
        </p:nvSpPr>
        <p:spPr>
          <a:xfrm>
            <a:off x="9387230" y="2423160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30968" y="1655064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14939" y="2225650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47704" y="1475842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99141" y="963778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3029" y="1047902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2" name="Shape 30"/>
          <p:cNvSpPr/>
          <p:nvPr/>
        </p:nvSpPr>
        <p:spPr>
          <a:xfrm>
            <a:off x="8977579" y="605333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89490" y="400507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34" name="Shape 32"/>
          <p:cNvSpPr/>
          <p:nvPr/>
        </p:nvSpPr>
        <p:spPr>
          <a:xfrm>
            <a:off x="11183112" y="484632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35" name="Shape 33"/>
          <p:cNvSpPr/>
          <p:nvPr/>
        </p:nvSpPr>
        <p:spPr>
          <a:xfrm>
            <a:off x="651053" y="5464454"/>
            <a:ext cx="543154" cy="48371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1194206" y="5317236"/>
            <a:ext cx="543154" cy="63093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737360" y="5317236"/>
            <a:ext cx="592531" cy="48371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2329891" y="5170018"/>
            <a:ext cx="518465" cy="63093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1391717" y="4833518"/>
            <a:ext cx="345643" cy="483718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848563" y="4454957"/>
            <a:ext cx="543154" cy="378562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1391717" y="4286707"/>
            <a:ext cx="395021" cy="546811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2132381" y="4749394"/>
            <a:ext cx="715975" cy="420624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1391717" y="4749394"/>
            <a:ext cx="740664" cy="84125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2132381" y="4370832"/>
            <a:ext cx="592531" cy="378562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786738" y="4286707"/>
            <a:ext cx="938174" cy="84125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651053" y="4833518"/>
            <a:ext cx="740664" cy="630936"/>
          </a:xfrm>
          <a:prstGeom prst="line">
            <a:avLst/>
          </a:prstGeom>
          <a:noFill/>
          <a:ln w="9525">
            <a:solidFill>
              <a:srgbClr val="AAB8E8">
                <a:alpha val="4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5333" y="5418734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48" name="Shape 46"/>
          <p:cNvSpPr/>
          <p:nvPr/>
        </p:nvSpPr>
        <p:spPr>
          <a:xfrm>
            <a:off x="1166774" y="5920740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49" name="Shape 47"/>
          <p:cNvSpPr/>
          <p:nvPr/>
        </p:nvSpPr>
        <p:spPr>
          <a:xfrm>
            <a:off x="1709928" y="5289804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0" name="Shape 48"/>
          <p:cNvSpPr/>
          <p:nvPr/>
        </p:nvSpPr>
        <p:spPr>
          <a:xfrm>
            <a:off x="2284171" y="5755234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51" name="Shape 49"/>
          <p:cNvSpPr/>
          <p:nvPr/>
        </p:nvSpPr>
        <p:spPr>
          <a:xfrm>
            <a:off x="2820924" y="5142586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2" name="Shape 50"/>
          <p:cNvSpPr/>
          <p:nvPr/>
        </p:nvSpPr>
        <p:spPr>
          <a:xfrm>
            <a:off x="2104949" y="4721962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53" name="Shape 51"/>
          <p:cNvSpPr/>
          <p:nvPr/>
        </p:nvSpPr>
        <p:spPr>
          <a:xfrm>
            <a:off x="1345997" y="4787798"/>
            <a:ext cx="91440" cy="91440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4" name="Shape 52"/>
          <p:cNvSpPr/>
          <p:nvPr/>
        </p:nvSpPr>
        <p:spPr>
          <a:xfrm>
            <a:off x="821131" y="4427525"/>
            <a:ext cx="54864" cy="54864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55" name="Shape 53"/>
          <p:cNvSpPr/>
          <p:nvPr/>
        </p:nvSpPr>
        <p:spPr>
          <a:xfrm>
            <a:off x="1759306" y="4259275"/>
            <a:ext cx="54864" cy="54864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56" name="Shape 54"/>
          <p:cNvSpPr/>
          <p:nvPr/>
        </p:nvSpPr>
        <p:spPr>
          <a:xfrm>
            <a:off x="2679192" y="4325112"/>
            <a:ext cx="91440" cy="91440"/>
          </a:xfrm>
          <a:prstGeom prst="ellipse">
            <a:avLst/>
          </a:prstGeom>
          <a:solidFill>
            <a:srgbClr val="AAB8E8"/>
          </a:solidFill>
          <a:ln/>
        </p:spPr>
      </p:sp>
      <p:sp>
        <p:nvSpPr>
          <p:cNvPr id="57" name="Text 55"/>
          <p:cNvSpPr/>
          <p:nvPr/>
        </p:nvSpPr>
        <p:spPr>
          <a:xfrm>
            <a:off x="731520" y="27889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8" name="Shape 56"/>
          <p:cNvSpPr/>
          <p:nvPr/>
        </p:nvSpPr>
        <p:spPr>
          <a:xfrm>
            <a:off x="5367528" y="3703320"/>
            <a:ext cx="1463040" cy="0"/>
          </a:xfrm>
          <a:prstGeom prst="line">
            <a:avLst/>
          </a:prstGeom>
          <a:noFill/>
          <a:ln w="25400">
            <a:solidFill>
              <a:srgbClr val="F4B9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38404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A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31520" y="54406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 Prediction from Lifestyle and Physiological Indicators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7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Statistics for Data Science  |  East West University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CSE303 — Sleep Disorder Prediction Mini Project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2026-08-05T06:42:37Z</dcterms:created>
  <dcterms:modified xsi:type="dcterms:W3CDTF">2026-08-05T06:42:37Z</dcterms:modified>
</cp:coreProperties>
</file>